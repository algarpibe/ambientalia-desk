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0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7864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la sesión: que el equipo técnico vea el proyecto completo, entienda qué cambia en su trabajo diario y sepa qué decisiones dependen de ellos.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Insistir: la lista no la inventó nadie en una pizarra, sale de las actas del 17/02, 14/08, 20/08 y 21/08 y del Estudio Funcional de 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código interno del cliente sale del acta del 27/08. Unos 150 equipos ya lo tienen; el consolidado del listado está pendiente.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registro de fecha, hora y persona no es control: es lo que permite saber dónde se atasca el flujo y defender un plazo ante el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recordando la regla: cada bloque sale con una decisión escrita o con un responsable y una fecha.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-1280160"/>
            <a:ext cx="4754880" cy="4754880"/>
          </a:xfrm>
          <a:prstGeom prst="roundRect">
            <a:avLst>
              <a:gd name="adj" fmla="val 9615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223760" y="3017520"/>
            <a:ext cx="3108960" cy="3108960"/>
          </a:xfrm>
          <a:prstGeom prst="roundRect">
            <a:avLst>
              <a:gd name="adj" fmla="val 11765"/>
            </a:avLst>
          </a:prstGeom>
          <a:solidFill>
            <a:srgbClr val="153529"/>
          </a:solidFill>
          <a:ln w="12700">
            <a:solidFill>
              <a:srgbClr val="15352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77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AMBIENTALIA · PROYECTO DESK 2.0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72768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Desk2.0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78608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6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que sustituye a Zoho Desk: un solo sitio donde vive el ticket, el equipo, el diagnóstico y el informe.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3529584"/>
            <a:ext cx="2011680" cy="0"/>
          </a:xfrm>
          <a:prstGeom prst="line">
            <a:avLst/>
          </a:prstGeom>
          <a:noFill/>
          <a:ln w="25400">
            <a:solidFill>
              <a:srgbClr val="D996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 txBox="1"/>
          <p:nvPr/>
        </p:nvSpPr>
        <p:spPr>
          <a:xfrm>
            <a:off x="566928" y="367588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77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al equipo técnico · septiembre de 2026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77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 Revisión R08.1 del Documento Maestro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010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Trece dolores concretos, no una idea de mejora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6926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sale de un acta o de un estudio. Estos cinco son los que más pesan.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508760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 txBox="1"/>
          <p:nvPr/>
        </p:nvSpPr>
        <p:spPr>
          <a:xfrm>
            <a:off x="566928" y="15087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48132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fecha se promete a ciegas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46504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ver la carga del taller ni el stock de repuestos. Pone en riesgo el SLA del 90 %.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569464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 txBox="1"/>
          <p:nvPr/>
        </p:nvSpPr>
        <p:spPr>
          <a:xfrm>
            <a:off x="566928" y="25694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4203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duplicados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807208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equipo entra por calibración, se detecta falla y requiere correctivo: CG y MT sobre el mismo equipo.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630168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 txBox="1"/>
          <p:nvPr/>
        </p:nvSpPr>
        <p:spPr>
          <a:xfrm>
            <a:off x="566928" y="363016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60273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historial vive en texto libre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86791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 imposibles de procesar. Nada de lo que se escribe ahí se puede medir ni buscar.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1508760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 txBox="1"/>
          <p:nvPr/>
        </p:nvSpPr>
        <p:spPr>
          <a:xfrm>
            <a:off x="4800600" y="15087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330952" y="148132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tickets pasan por todo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330952" y="1746504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Incluso los que no tienen novedad recorren revisión técnica y comercial completas.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569464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 txBox="1"/>
          <p:nvPr/>
        </p:nvSpPr>
        <p:spPr>
          <a:xfrm>
            <a:off x="4800600" y="25694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330952" y="2542032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«cómo» depende de personas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330952" y="28072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conocimiento técnico no está en ningún sitio: se pregunta, se repite y se pierde.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602736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 txBox="1"/>
          <p:nvPr/>
        </p:nvSpPr>
        <p:spPr>
          <a:xfrm>
            <a:off x="4983480" y="3712464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17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KPI rector no es el MTBF. Es el cumplimiento de la fecha prometida y el tiempo total de estancia: el activo es del cliente y hay una venta por medio.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4686300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9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R08.1 · §1.7 — Los dolores que Desk 2.0 debe resolver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MARCO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010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ejes, y son una cadena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6926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tres bloques independientes: cada uno es la materia prima del siguiente.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2487168" cy="2048256"/>
          </a:xfrm>
          <a:prstGeom prst="roundRect">
            <a:avLst>
              <a:gd name="adj" fmla="val 2679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 txBox="1"/>
          <p:nvPr/>
        </p:nvSpPr>
        <p:spPr>
          <a:xfrm>
            <a:off x="768096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6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2128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bien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523744"/>
            <a:ext cx="2103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dato entre limpio a la primera: flujo sin trampas, listas en vez de texto libre, trazas completas.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08960" y="2450592"/>
            <a:ext cx="219456" cy="219456"/>
          </a:xfrm>
          <a:prstGeom prst="rightArrow">
            <a:avLst/>
          </a:prstGeom>
          <a:solidFill>
            <a:srgbClr val="D9962B"/>
          </a:solidFill>
          <a:ln w="12700">
            <a:solidFill>
              <a:srgbClr val="D996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364992" y="1572768"/>
            <a:ext cx="2487168" cy="2048256"/>
          </a:xfrm>
          <a:prstGeom prst="roundRect">
            <a:avLst>
              <a:gd name="adj" fmla="val 2679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 txBox="1"/>
          <p:nvPr/>
        </p:nvSpPr>
        <p:spPr>
          <a:xfrm>
            <a:off x="356616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4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2128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523744"/>
            <a:ext cx="2103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reales, carga del taller, promesa de fecha. Sólo funciona si el eje ① dejó el dato limpio.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07024" y="2450592"/>
            <a:ext cx="219456" cy="219456"/>
          </a:xfrm>
          <a:prstGeom prst="rightArrow">
            <a:avLst/>
          </a:prstGeom>
          <a:solidFill>
            <a:srgbClr val="D9962B"/>
          </a:solidFill>
          <a:ln w="12700">
            <a:solidFill>
              <a:srgbClr val="D996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163056" y="1572768"/>
            <a:ext cx="2487168" cy="2048256"/>
          </a:xfrm>
          <a:prstGeom prst="roundRect">
            <a:avLst>
              <a:gd name="adj" fmla="val 2679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 txBox="1"/>
          <p:nvPr/>
        </p:nvSpPr>
        <p:spPr>
          <a:xfrm>
            <a:off x="6364224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3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22128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Convertirlo en producto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2523744"/>
            <a:ext cx="2103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cliente, conocimiento publicado, diagnóstico asistido. Es lo último, y depende de los dos anteriores.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803904"/>
            <a:ext cx="8010144" cy="658368"/>
          </a:xfrm>
          <a:prstGeom prst="roundRect">
            <a:avLst>
              <a:gd name="adj" fmla="val 8333"/>
            </a:avLst>
          </a:prstGeom>
          <a:solidFill>
            <a:srgbClr val="10241D"/>
          </a:solidFill>
          <a:ln w="12700">
            <a:solidFill>
              <a:srgbClr val="10241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 txBox="1"/>
          <p:nvPr/>
        </p:nvSpPr>
        <p:spPr>
          <a:xfrm>
            <a:off x="786384" y="3877056"/>
            <a:ext cx="7571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rector es el error de captura. Un dato mal tomado en recepción no se arregla después: se propaga a la métrica, a la promesa de fecha y a lo que ve el cliente.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4686300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9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R08.1 · §1.4 — Los tres ejes de valor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010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«otro sistema de tickets»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6926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tres naturalezas que hoy están separadas en Ambientalia.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536192"/>
            <a:ext cx="91440" cy="658368"/>
          </a:xfrm>
          <a:prstGeom prst="roundRect">
            <a:avLst>
              <a:gd name="adj" fmla="val 3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 txBox="1"/>
          <p:nvPr/>
        </p:nvSpPr>
        <p:spPr>
          <a:xfrm>
            <a:off x="859536" y="1536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de servicio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172968" y="15361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ticket, su flujo y sus estados. Lo que hoy hace Zoho Desk, pero con el motor bajo nuestro control.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377440"/>
            <a:ext cx="91440" cy="658368"/>
          </a:xfrm>
          <a:prstGeom prst="roundRect">
            <a:avLst>
              <a:gd name="adj" fmla="val 3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 txBox="1"/>
          <p:nvPr/>
        </p:nvSpPr>
        <p:spPr>
          <a:xfrm>
            <a:off x="859536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activos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172968" y="23774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hoja de vida del equipo del cliente, con su historial completo y trazable por número de serie.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218688"/>
            <a:ext cx="91440" cy="658368"/>
          </a:xfrm>
          <a:prstGeom prst="roundRect">
            <a:avLst>
              <a:gd name="adj" fmla="val 3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 txBox="1"/>
          <p:nvPr/>
        </p:nvSpPr>
        <p:spPr>
          <a:xfrm>
            <a:off x="859536" y="32186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de taller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172968" y="321868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guiado, repuestos, capacidad, informes y calibración: el trabajo real de la mesa.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913632"/>
            <a:ext cx="8010144" cy="566928"/>
          </a:xfrm>
          <a:prstGeom prst="roundRect">
            <a:avLst>
              <a:gd name="adj" fmla="val 9677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 txBox="1"/>
          <p:nvPr/>
        </p:nvSpPr>
        <p:spPr>
          <a:xfrm>
            <a:off x="786384" y="3968496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7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diferencia importante frente a cualquier CMMS de planta: aquí el activo es del cliente y hay un proceso de venta por medio.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686300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9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R08.1 · §1.5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ALCANCE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010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Doce módulos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6926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va del núcleo operativo hacia fuera. Los tres primeros son la Fase 1.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1883664" cy="859536"/>
          </a:xfrm>
          <a:prstGeom prst="roundRect">
            <a:avLst>
              <a:gd name="adj" fmla="val 6383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13232" y="1682496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713232" y="168249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5681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y máquina de estados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15184" y="1554480"/>
            <a:ext cx="1883664" cy="859536"/>
          </a:xfrm>
          <a:prstGeom prst="roundRect">
            <a:avLst>
              <a:gd name="adj" fmla="val 6383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761488" y="1682496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 txBox="1"/>
          <p:nvPr/>
        </p:nvSpPr>
        <p:spPr>
          <a:xfrm>
            <a:off x="2761488" y="168249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761488" y="195681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guiado y KB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554480"/>
            <a:ext cx="1883664" cy="859536"/>
          </a:xfrm>
          <a:prstGeom prst="roundRect">
            <a:avLst>
              <a:gd name="adj" fmla="val 6383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809744" y="1682496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 txBox="1"/>
          <p:nvPr/>
        </p:nvSpPr>
        <p:spPr>
          <a:xfrm>
            <a:off x="4809744" y="168249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09744" y="195681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Hojas de vida de equipos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11696" y="1554480"/>
            <a:ext cx="1883664" cy="859536"/>
          </a:xfrm>
          <a:prstGeom prst="roundRect">
            <a:avLst>
              <a:gd name="adj" fmla="val 6383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858000" y="1682496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 txBox="1"/>
          <p:nvPr/>
        </p:nvSpPr>
        <p:spPr>
          <a:xfrm>
            <a:off x="6858000" y="168249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195681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 y promesa de fecha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2523744"/>
            <a:ext cx="1883664" cy="859536"/>
          </a:xfrm>
          <a:prstGeom prst="roundRect">
            <a:avLst>
              <a:gd name="adj" fmla="val 6383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713232" y="2651760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 txBox="1"/>
          <p:nvPr/>
        </p:nvSpPr>
        <p:spPr>
          <a:xfrm>
            <a:off x="713232" y="26517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292608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Inventarios y repuestos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615184" y="2523744"/>
            <a:ext cx="1883664" cy="859536"/>
          </a:xfrm>
          <a:prstGeom prst="roundRect">
            <a:avLst>
              <a:gd name="adj" fmla="val 6383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2761488" y="2651760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 txBox="1"/>
          <p:nvPr/>
        </p:nvSpPr>
        <p:spPr>
          <a:xfrm>
            <a:off x="2761488" y="26517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761488" y="292608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y capacidad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2523744"/>
            <a:ext cx="1883664" cy="859536"/>
          </a:xfrm>
          <a:prstGeom prst="roundRect">
            <a:avLst>
              <a:gd name="adj" fmla="val 6383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4809744" y="2651760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 txBox="1"/>
          <p:nvPr/>
        </p:nvSpPr>
        <p:spPr>
          <a:xfrm>
            <a:off x="4809744" y="26517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809744" y="292608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Analítica, KPIs y predicción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711696" y="2523744"/>
            <a:ext cx="1883664" cy="859536"/>
          </a:xfrm>
          <a:prstGeom prst="roundRect">
            <a:avLst>
              <a:gd name="adj" fmla="val 6383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6858000" y="2651760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0E3326"/>
          </a:solidFill>
          <a:ln w="12700">
            <a:solidFill>
              <a:srgbClr val="0E33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 txBox="1"/>
          <p:nvPr/>
        </p:nvSpPr>
        <p:spPr>
          <a:xfrm>
            <a:off x="6858000" y="26517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292608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cliente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928" y="3493008"/>
            <a:ext cx="1883664" cy="859536"/>
          </a:xfrm>
          <a:prstGeom prst="roundRect">
            <a:avLst>
              <a:gd name="adj" fmla="val 6383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713232" y="3621024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 txBox="1"/>
          <p:nvPr/>
        </p:nvSpPr>
        <p:spPr>
          <a:xfrm>
            <a:off x="713232" y="36210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13232" y="3895344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QA/QC y calibración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615184" y="3493008"/>
            <a:ext cx="1883664" cy="859536"/>
          </a:xfrm>
          <a:prstGeom prst="roundRect">
            <a:avLst>
              <a:gd name="adj" fmla="val 6383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Shape 40"/>
          <p:cNvSpPr/>
          <p:nvPr/>
        </p:nvSpPr>
        <p:spPr>
          <a:xfrm>
            <a:off x="2761488" y="3621024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 txBox="1"/>
          <p:nvPr/>
        </p:nvSpPr>
        <p:spPr>
          <a:xfrm>
            <a:off x="2761488" y="36210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2761488" y="3895344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Movilidad, UX y offline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663440" y="3493008"/>
            <a:ext cx="1883664" cy="859536"/>
          </a:xfrm>
          <a:prstGeom prst="roundRect">
            <a:avLst>
              <a:gd name="adj" fmla="val 6383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Shape 44"/>
          <p:cNvSpPr/>
          <p:nvPr/>
        </p:nvSpPr>
        <p:spPr>
          <a:xfrm>
            <a:off x="4809744" y="3621024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4A5A53"/>
          </a:solidFill>
          <a:ln w="12700">
            <a:solidFill>
              <a:srgbClr val="4A5A5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 txBox="1"/>
          <p:nvPr/>
        </p:nvSpPr>
        <p:spPr>
          <a:xfrm>
            <a:off x="4809744" y="36210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4809744" y="3895344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datos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711696" y="3493008"/>
            <a:ext cx="1883664" cy="859536"/>
          </a:xfrm>
          <a:prstGeom prst="roundRect">
            <a:avLst>
              <a:gd name="adj" fmla="val 6383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Shape 48"/>
          <p:cNvSpPr/>
          <p:nvPr/>
        </p:nvSpPr>
        <p:spPr>
          <a:xfrm>
            <a:off x="6858000" y="3621024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0E3326"/>
          </a:solidFill>
          <a:ln w="12700">
            <a:solidFill>
              <a:srgbClr val="0E33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 txBox="1"/>
          <p:nvPr/>
        </p:nvSpPr>
        <p:spPr>
          <a:xfrm>
            <a:off x="6858000" y="36210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6858000" y="3895344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y formación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566928" y="4686300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9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R08.1 · §2 — La numeración se cerró sin huecos en la R08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CALENDARIO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010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horizontes, una condición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6926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lo que viene después funciona si la Fase 1 no deja el dato estructurado.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1883664"/>
            <a:ext cx="7644384" cy="0"/>
          </a:xfrm>
          <a:prstGeom prst="line">
            <a:avLst/>
          </a:prstGeom>
          <a:noFill/>
          <a:ln w="25400">
            <a:solidFill>
              <a:srgbClr val="D6E0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40080" y="1773936"/>
            <a:ext cx="219456" cy="219456"/>
          </a:xfrm>
          <a:prstGeom prst="ellipse">
            <a:avLst/>
          </a:prstGeom>
          <a:solidFill>
            <a:srgbClr val="D9962B"/>
          </a:solidFill>
          <a:ln w="12700">
            <a:solidFill>
              <a:srgbClr val="D996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566928" y="14630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13969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Correcciones</a:t>
            </a:r>
            <a:endParaRPr lang="en-US" sz="13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as-built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798064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Reparar el flujo ya construido antes de añadirle nada encima.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1773936"/>
            <a:ext cx="219456" cy="219456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 txBox="1"/>
          <p:nvPr/>
        </p:nvSpPr>
        <p:spPr>
          <a:xfrm>
            <a:off x="2670048" y="14630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2026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213969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MVP</a:t>
            </a:r>
            <a:endParaRPr lang="en-US" sz="13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y ejecución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2798064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de tickets, diagnóstico guiado, hojas de vida y primeros KPIs reales.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773936"/>
            <a:ext cx="219456" cy="219456"/>
          </a:xfrm>
          <a:prstGeom prst="ellipse">
            <a:avLst/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 txBox="1"/>
          <p:nvPr/>
        </p:nvSpPr>
        <p:spPr>
          <a:xfrm>
            <a:off x="4773168" y="14630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7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· S1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773168" y="213969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3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y flujo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773168" y="2798064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en un clic, inventario transaccional, capacidad y dashboards.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1773936"/>
            <a:ext cx="219456" cy="219456"/>
          </a:xfrm>
          <a:prstGeom prst="ellipse">
            <a:avLst/>
          </a:prstGeom>
          <a:solidFill>
            <a:srgbClr val="0E3326"/>
          </a:solidFill>
          <a:ln w="12700">
            <a:solidFill>
              <a:srgbClr val="0E33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 txBox="1"/>
          <p:nvPr/>
        </p:nvSpPr>
        <p:spPr>
          <a:xfrm>
            <a:off x="6876288" y="14630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E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· S2+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213969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endParaRPr lang="en-US" sz="13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Promesa y ecosistema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876288" y="2798064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calculada, predicción, agente conversacional y portal como producto.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3822192"/>
            <a:ext cx="8010144" cy="640080"/>
          </a:xfrm>
          <a:prstGeom prst="roundRect">
            <a:avLst>
              <a:gd name="adj" fmla="val 8571"/>
            </a:avLst>
          </a:prstGeom>
          <a:solidFill>
            <a:srgbClr val="10241D"/>
          </a:solidFill>
          <a:ln w="12700">
            <a:solidFill>
              <a:srgbClr val="10241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 txBox="1"/>
          <p:nvPr/>
        </p:nvSpPr>
        <p:spPr>
          <a:xfrm>
            <a:off x="786384" y="3895344"/>
            <a:ext cx="7571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ratificada el 27/08: versión operativa el 31 de diciembre de 2026. El desarrollo está frenado hasta consensuar el documento maestro.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4686300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9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R08.1 · §3.5 — Roadmap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005840"/>
            <a:ext cx="3291840" cy="3291840"/>
          </a:xfrm>
          <a:prstGeom prst="roundRect">
            <a:avLst>
              <a:gd name="adj" fmla="val 11111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 txBox="1"/>
          <p:nvPr/>
        </p:nvSpPr>
        <p:spPr>
          <a:xfrm>
            <a:off x="566928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D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139696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cambia en la mesa de trabajo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2004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7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cambios que se notan el primer día.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1 · RECEPCIÓN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010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equipo se identifica solo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6926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serial deja de ser un dato que se teclea y pasa a ser la llave de todo.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581912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 txBox="1"/>
          <p:nvPr/>
        </p:nvSpPr>
        <p:spPr>
          <a:xfrm>
            <a:off x="566928" y="158191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55448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Autocompletado por serial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19656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el cliente, el modelo y las órdenes de venta activas. Si el equipo ya estuvo aquí, abre su historial.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642616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 txBox="1"/>
          <p:nvPr/>
        </p:nvSpPr>
        <p:spPr>
          <a:xfrm>
            <a:off x="566928" y="264261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61518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único por número de serie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880360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acabó la duplicidad CG/MT sobre el mismo equipo. La rama la define el tipo de servicio, no el prefijo.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703320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 txBox="1"/>
          <p:nvPr/>
        </p:nvSpPr>
        <p:spPr>
          <a:xfrm>
            <a:off x="566928" y="370332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67588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Accesorios con menú visual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941064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en lugar de un listado de texto, en la remisión de entrada y en la de salida.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1581912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 txBox="1"/>
          <p:nvPr/>
        </p:nvSpPr>
        <p:spPr>
          <a:xfrm>
            <a:off x="4800600" y="158191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330952" y="15544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interno del cliente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330952" y="1819656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como segundo identificador de búsqueda. Las órdenes de compra llegan por ese código, no por el serial.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642616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 txBox="1"/>
          <p:nvPr/>
        </p:nvSpPr>
        <p:spPr>
          <a:xfrm>
            <a:off x="4800600" y="264261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330952" y="261518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campos comerciales nuevos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330952" y="2880360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adquisición, fecha de factura, fin de garantía y código del cliente. El fin de garantía dispara alertas.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703320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 txBox="1"/>
          <p:nvPr/>
        </p:nvSpPr>
        <p:spPr>
          <a:xfrm>
            <a:off x="4800600" y="370332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330952" y="367588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entrada con foto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330952" y="3941064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recepción genera el ticket, no al revés. Con inspección visual antes de energizar el equipo.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4686300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9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Decidido el 27/08 · ítems 1, 9, 10, 19, 21 del backlog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2 · DIAGNÓSTICO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010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Macro-fases fijas, checklist que cambia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6926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 de mayor impacto del 27/08: una sola arquitectura para todas las marcas.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591056"/>
            <a:ext cx="1883664" cy="457200"/>
          </a:xfrm>
          <a:prstGeom prst="roundRect">
            <a:avLst>
              <a:gd name="adj" fmla="val 12000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 txBox="1"/>
          <p:nvPr/>
        </p:nvSpPr>
        <p:spPr>
          <a:xfrm>
            <a:off x="566928" y="1591056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78024" y="1737360"/>
            <a:ext cx="118872" cy="164592"/>
          </a:xfrm>
          <a:prstGeom prst="rightArrow">
            <a:avLst/>
          </a:prstGeom>
          <a:solidFill>
            <a:srgbClr val="A9B6B0"/>
          </a:solidFill>
          <a:ln w="12700">
            <a:solidFill>
              <a:srgbClr val="A9B6B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566928" y="2139696"/>
            <a:ext cx="1883664" cy="91440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 txBox="1"/>
          <p:nvPr/>
        </p:nvSpPr>
        <p:spPr>
          <a:xfrm>
            <a:off x="676656" y="2231136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Grimm EDM 180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15184" y="1591056"/>
            <a:ext cx="1883664" cy="457200"/>
          </a:xfrm>
          <a:prstGeom prst="roundRect">
            <a:avLst>
              <a:gd name="adj" fmla="val 12000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 txBox="1"/>
          <p:nvPr/>
        </p:nvSpPr>
        <p:spPr>
          <a:xfrm>
            <a:off x="2615184" y="1591056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Óptica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1737360"/>
            <a:ext cx="118872" cy="164592"/>
          </a:xfrm>
          <a:prstGeom prst="rightArrow">
            <a:avLst/>
          </a:prstGeom>
          <a:solidFill>
            <a:srgbClr val="A9B6B0"/>
          </a:solidFill>
          <a:ln w="12700">
            <a:solidFill>
              <a:srgbClr val="A9B6B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2615184" y="2139696"/>
            <a:ext cx="1883664" cy="91440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 txBox="1"/>
          <p:nvPr/>
        </p:nvSpPr>
        <p:spPr>
          <a:xfrm>
            <a:off x="2724912" y="2231136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Grimm EDM 180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591056"/>
            <a:ext cx="1883664" cy="457200"/>
          </a:xfrm>
          <a:prstGeom prst="roundRect">
            <a:avLst>
              <a:gd name="adj" fmla="val 12000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 txBox="1"/>
          <p:nvPr/>
        </p:nvSpPr>
        <p:spPr>
          <a:xfrm>
            <a:off x="4663440" y="1591056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Neumática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74536" y="1737360"/>
            <a:ext cx="118872" cy="164592"/>
          </a:xfrm>
          <a:prstGeom prst="rightArrow">
            <a:avLst/>
          </a:prstGeom>
          <a:solidFill>
            <a:srgbClr val="A9B6B0"/>
          </a:solidFill>
          <a:ln w="12700">
            <a:solidFill>
              <a:srgbClr val="A9B6B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663440" y="2139696"/>
            <a:ext cx="1883664" cy="91440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 txBox="1"/>
          <p:nvPr/>
        </p:nvSpPr>
        <p:spPr>
          <a:xfrm>
            <a:off x="4773168" y="2231136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Grimm EDM 180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11696" y="1591056"/>
            <a:ext cx="1883664" cy="457200"/>
          </a:xfrm>
          <a:prstGeom prst="roundRect">
            <a:avLst>
              <a:gd name="adj" fmla="val 12000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 txBox="1"/>
          <p:nvPr/>
        </p:nvSpPr>
        <p:spPr>
          <a:xfrm>
            <a:off x="6711696" y="1591056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Electrónica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11696" y="2139696"/>
            <a:ext cx="1883664" cy="91440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 txBox="1"/>
          <p:nvPr/>
        </p:nvSpPr>
        <p:spPr>
          <a:xfrm>
            <a:off x="6821424" y="2231136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Grimm EDM 180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3200400"/>
            <a:ext cx="8010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macro-fases son transiciones de estado y son iguales para todo el portafolio. Dentro de cada una vive un checklist parametrizado por marca y modelo, con subniveles y campos de valor además de casillas. Incorporar un equipo nuevo deja de ser rediseñar el flujo: es cargar una plantilla.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3895344"/>
            <a:ext cx="8010144" cy="566928"/>
          </a:xfrm>
          <a:prstGeom prst="roundRect">
            <a:avLst>
              <a:gd name="adj" fmla="val 9677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 txBox="1"/>
          <p:nvPr/>
        </p:nvSpPr>
        <p:spPr>
          <a:xfrm>
            <a:off x="786384" y="3950208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7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prototipo se construye sobre el Grimm EDM 180 y se extrapola después. El equipo sin novedades recorre igualmente las macro-fases; la foto sólo se exige cuando hay novedad.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4686300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9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del 27/08 · M2.1 — cierra el punto abierto 45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3 · REPUESTOS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010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repuestos se eligen desde el diagnóstico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6926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reserva se adelanta: no espera a que el cliente apruebe.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618488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 txBox="1"/>
          <p:nvPr/>
        </p:nvSpPr>
        <p:spPr>
          <a:xfrm>
            <a:off x="566928" y="161848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59105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desde la etapa que falla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5623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punto No OK el técnico marca los repuestos que proceden, sin salir del diagnóstico.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679192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 txBox="1"/>
          <p:nvPr/>
        </p:nvSpPr>
        <p:spPr>
          <a:xfrm>
            <a:off x="566928" y="267919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6517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blanda anticipada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916936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repuesto identificado en diagnóstico queda comprometido antes de cotizar, no después.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739896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 txBox="1"/>
          <p:nvPr/>
        </p:nvSpPr>
        <p:spPr>
          <a:xfrm>
            <a:off x="566928" y="373989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71246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sobre orden aprobada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977640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consumo se registra escaneando el QR del repuesto desde la propia orden.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1591056"/>
            <a:ext cx="3749040" cy="2157984"/>
          </a:xfrm>
          <a:prstGeom prst="roundRect">
            <a:avLst>
              <a:gd name="adj" fmla="val 2542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 txBox="1"/>
          <p:nvPr/>
        </p:nvSpPr>
        <p:spPr>
          <a:xfrm>
            <a:off x="5001768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estados del repuesto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01768" y="20848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inventario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0848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fecha se calcula sin espera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001768" y="25968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camino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59689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fecha estimada de llegada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001768" y="31089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solicitar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31089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su lead time de proveedor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001768" y="387705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los tres casos que cambian la fecha que se le promete al cliente. El dato vive en el Portal de Inventario, no en AmpliDesk.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4686300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9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R08.1 · M2.3, M5.1 y M5.4 — punto abierto 48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4 · HOJA DE VIDA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010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acaban las carpetas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6926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Decidido el 27/08: la información vive en base de datos, no en subcarpetas por servicio.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3840480" cy="2212848"/>
          </a:xfrm>
          <a:prstGeom prst="roundRect">
            <a:avLst>
              <a:gd name="adj" fmla="val 2479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 txBox="1"/>
          <p:nvPr/>
        </p:nvSpPr>
        <p:spPr>
          <a:xfrm>
            <a:off x="786384" y="17007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1993392"/>
            <a:ext cx="340156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carpeta creada a mano por cada servicio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Subcarpetas de protocolo, certificado, nota de liberación y capturas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300 equipos con historial en carpetas por serial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eso se puede buscar ni medir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572768"/>
            <a:ext cx="3867912" cy="2212848"/>
          </a:xfrm>
          <a:prstGeom prst="roundRect">
            <a:avLst>
              <a:gd name="adj" fmla="val 2479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 txBox="1"/>
          <p:nvPr/>
        </p:nvSpPr>
        <p:spPr>
          <a:xfrm>
            <a:off x="4928616" y="17007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7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AMPLIDESK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928616" y="1993392"/>
            <a:ext cx="342900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C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 de captura de datos, no archivos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C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entregables se imprimen sobre plantilla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C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PDF sigue existiendo, para respaldo y entrega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C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conserva el documento exacto que vio el cliente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041648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migración del histórico se aborda como desarrollo aparte. Mientras tanto, la hoja de vida lleva un enlace directo a la carpeta de Drive, y los métodos actuales se mantienen en paralelo unos seis meses.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686300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9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del 27/08 · M3.5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5 · INFORMES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010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protocolo al informe de salida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6926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documento que cierra el servicio, sea del tipo que sea.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1883664" cy="1737360"/>
          </a:xfrm>
          <a:prstGeom prst="roundRect">
            <a:avLst>
              <a:gd name="adj" fmla="val 3158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13232" y="1773936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713232" y="177393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08483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395728"/>
            <a:ext cx="16276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puntos de control que fallan quedan marcados en rojo.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15184" y="1627632"/>
            <a:ext cx="1883664" cy="1737360"/>
          </a:xfrm>
          <a:prstGeom prst="roundRect">
            <a:avLst>
              <a:gd name="adj" fmla="val 3158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761488" y="1773936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 txBox="1"/>
          <p:nvPr/>
        </p:nvSpPr>
        <p:spPr>
          <a:xfrm>
            <a:off x="2761488" y="177393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761488" y="208483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761488" y="2395728"/>
            <a:ext cx="16276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lo aprobado por el cliente.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627632"/>
            <a:ext cx="1883664" cy="1737360"/>
          </a:xfrm>
          <a:prstGeom prst="roundRect">
            <a:avLst>
              <a:gd name="adj" fmla="val 3158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4809744" y="1773936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 txBox="1"/>
          <p:nvPr/>
        </p:nvSpPr>
        <p:spPr>
          <a:xfrm>
            <a:off x="4809744" y="177393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809744" y="208483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09744" y="2395728"/>
            <a:ext cx="16276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corregido pasa a verde. Lo que sigue en rojo lleva motivo tipificado.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11696" y="1627632"/>
            <a:ext cx="1883664" cy="1737360"/>
          </a:xfrm>
          <a:prstGeom prst="roundRect">
            <a:avLst>
              <a:gd name="adj" fmla="val 3158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6858000" y="1773936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D9962B"/>
          </a:solidFill>
          <a:ln w="12700">
            <a:solidFill>
              <a:srgbClr val="D996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 txBox="1"/>
          <p:nvPr/>
        </p:nvSpPr>
        <p:spPr>
          <a:xfrm>
            <a:off x="6858000" y="177393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208483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salida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2395728"/>
            <a:ext cx="16276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evidencia fotográfica y una conclusión, para todo tipo de servicio.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3529584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motivos tipificados del rojo que se queda en rojo: el cliente no aprueba el servicio · el repuesto no existe · no tiene solución.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3877056"/>
            <a:ext cx="8010144" cy="603504"/>
          </a:xfrm>
          <a:prstGeom prst="roundRect">
            <a:avLst>
              <a:gd name="adj" fmla="val 9091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 txBox="1"/>
          <p:nvPr/>
        </p:nvSpPr>
        <p:spPr>
          <a:xfrm>
            <a:off x="786384" y="3931920"/>
            <a:ext cx="7571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7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no existe trazabilidad definida entre el ingreso del equipo y el informe de diagnóstico. Dirección Técnica ha pedido adelantar este módulo a una fase muy anterior a la que tiene.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4686300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9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del 27/08 · M2.5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6 · LA HERRAMIENTA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010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la mesa de trabajo, no en el escritorio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6926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replica lo que ya conocen de Zoho Desk, para que el cambio no cueste.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618488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 txBox="1"/>
          <p:nvPr/>
        </p:nvSpPr>
        <p:spPr>
          <a:xfrm>
            <a:off x="566928" y="161848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59105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con checklists, fotos y firma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5623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diagnóstico se rellena donde está el equipo, no después de memoria en el ordenador.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679192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 txBox="1"/>
          <p:nvPr/>
        </p:nvSpPr>
        <p:spPr>
          <a:xfrm>
            <a:off x="566928" y="267919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6517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offline básico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916936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taller no siempre tiene cobertura. Lo capturado se sincroniza al recuperarla.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739896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 txBox="1"/>
          <p:nvPr/>
        </p:nvSpPr>
        <p:spPr>
          <a:xfrm>
            <a:off x="566928" y="373989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71246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«Mis tickets», autoordenado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977640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Ordenados por prioridad automática. Y planes semanal y mensual por técnico, no sólo la cola del día.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1618488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 txBox="1"/>
          <p:nvPr/>
        </p:nvSpPr>
        <p:spPr>
          <a:xfrm>
            <a:off x="4800600" y="161848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330952" y="1591056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Traspaso formalizado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330952" y="1856232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y cada transición registran fecha, hora y persona. Sin excepciones.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679192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 txBox="1"/>
          <p:nvPr/>
        </p:nvSpPr>
        <p:spPr>
          <a:xfrm>
            <a:off x="4800600" y="267919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330952" y="265176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por rol y por cargo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330952" y="2916936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quien ve y ejecuta lo suyo. Se acaba que cualquiera mueva cualquier transición.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739896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 txBox="1"/>
          <p:nvPr/>
        </p:nvSpPr>
        <p:spPr>
          <a:xfrm>
            <a:off x="4800600" y="373989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330952" y="371246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que escalan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330952" y="3977640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estado se pasa de su plazo, el aviso se repite al inmediato superior.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4686300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9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R08.1 · M10, M1.7 y M1.9 — ítems 5, 7, 8, 18 y 22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822960"/>
            <a:ext cx="3291840" cy="3291840"/>
          </a:xfrm>
          <a:prstGeom prst="roundRect">
            <a:avLst>
              <a:gd name="adj" fmla="val 11111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 txBox="1"/>
          <p:nvPr/>
        </p:nvSpPr>
        <p:spPr>
          <a:xfrm>
            <a:off x="566928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D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139696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estamos y qué falta decidir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2004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7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construido es un demostrador, no la plataforma en servicio.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010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ya existe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6926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contra el código, no contra la memoria.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1883664" cy="1737360"/>
          </a:xfrm>
          <a:prstGeom prst="roundRect">
            <a:avLst>
              <a:gd name="adj" fmla="val 3158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 txBox="1"/>
          <p:nvPr/>
        </p:nvSpPr>
        <p:spPr>
          <a:xfrm>
            <a:off x="713232" y="1682496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74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0428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levantados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578608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técnico, equipo nuevo, soporte remoto y comercial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15184" y="1554480"/>
            <a:ext cx="1883664" cy="1737360"/>
          </a:xfrm>
          <a:prstGeom prst="roundRect">
            <a:avLst>
              <a:gd name="adj" fmla="val 3158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 txBox="1"/>
          <p:nvPr/>
        </p:nvSpPr>
        <p:spPr>
          <a:xfrm>
            <a:off x="2761488" y="1682496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74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2761488" y="230428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transiciones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761488" y="2578608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mapeo del flujo de servicio técnico coincide con el código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554480"/>
            <a:ext cx="1883664" cy="1737360"/>
          </a:xfrm>
          <a:prstGeom prst="roundRect">
            <a:avLst>
              <a:gd name="adj" fmla="val 3158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 txBox="1"/>
          <p:nvPr/>
        </p:nvSpPr>
        <p:spPr>
          <a:xfrm>
            <a:off x="4809744" y="1682496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74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4809744" y="230428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809744" y="2578608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consolidado y verificado en la R05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11696" y="1554480"/>
            <a:ext cx="1883664" cy="1737360"/>
          </a:xfrm>
          <a:prstGeom prst="roundRect">
            <a:avLst>
              <a:gd name="adj" fmla="val 3158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 txBox="1"/>
          <p:nvPr/>
        </p:nvSpPr>
        <p:spPr>
          <a:xfrm>
            <a:off x="6858000" y="1682496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74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min</a:t>
            </a:r>
            <a:endParaRPr lang="en-US" sz="38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30428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latencia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2578608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Zoho → PostgreSQL propio, ya operativa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3602736"/>
            <a:ext cx="8010144" cy="896112"/>
          </a:xfrm>
          <a:prstGeom prst="roundRect">
            <a:avLst>
              <a:gd name="adj" fmla="val 6122"/>
            </a:avLst>
          </a:prstGeom>
          <a:solidFill>
            <a:srgbClr val="10241D"/>
          </a:solidFill>
          <a:ln w="12700">
            <a:solidFill>
              <a:srgbClr val="10241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 txBox="1"/>
          <p:nvPr/>
        </p:nvSpPr>
        <p:spPr>
          <a:xfrm>
            <a:off x="786384" y="36758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doce correcciones pendientes sobre lo construido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" y="3950208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6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Reparan el flujo antes de añadirle nada encima: un checkbox obligatorio que el motor deja saltar, cuatro estados de espera sin salida, un ciclo de facturación que borra la fecha de entrega y tres indicadores de bodegaje inválidos desde 2026.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4686300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9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R08.1 · Anexo H — seguimiento as-built frente a plan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ESTÁ DECIDIDO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010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Ocho decisiones del 27 de agosto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6926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sesión con más decisiones desde el 14/08. No se reabren: se aterrizan.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182880" cy="18288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 txBox="1"/>
          <p:nvPr/>
        </p:nvSpPr>
        <p:spPr>
          <a:xfrm>
            <a:off x="877824" y="159105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híbrida del diagnóstico: macro-fases y checklist parametrizado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81728" y="1645920"/>
            <a:ext cx="182880" cy="18288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 txBox="1"/>
          <p:nvPr/>
        </p:nvSpPr>
        <p:spPr>
          <a:xfrm>
            <a:off x="4992624" y="159105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Subdivisión de la orden de venta en subórdenes, con un ticket por subservicio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359152"/>
            <a:ext cx="182880" cy="18288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 txBox="1"/>
          <p:nvPr/>
        </p:nvSpPr>
        <p:spPr>
          <a:xfrm>
            <a:off x="877824" y="230428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interno del cliente como identificador secundario de búsqueda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81728" y="2359152"/>
            <a:ext cx="182880" cy="18288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 txBox="1"/>
          <p:nvPr/>
        </p:nvSpPr>
        <p:spPr>
          <a:xfrm>
            <a:off x="4992624" y="230428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protocolo se extiende a informe de salida para todo tipo de servicio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072384"/>
            <a:ext cx="182880" cy="18288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 txBox="1"/>
          <p:nvPr/>
        </p:nvSpPr>
        <p:spPr>
          <a:xfrm>
            <a:off x="877824" y="301752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en base de datos en lugar de carpetas, con entregables por plantilla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81728" y="3072384"/>
            <a:ext cx="182880" cy="18288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 txBox="1"/>
          <p:nvPr/>
        </p:nvSpPr>
        <p:spPr>
          <a:xfrm>
            <a:off x="4992624" y="301752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cliente y seguridad pasan a una etapa independiente y posterior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785616"/>
            <a:ext cx="182880" cy="18288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 txBox="1"/>
          <p:nvPr/>
        </p:nvSpPr>
        <p:spPr>
          <a:xfrm>
            <a:off x="877824" y="373075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conserva una vía de escape manual para el cambio de estado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81728" y="3785616"/>
            <a:ext cx="182880" cy="18288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 txBox="1"/>
          <p:nvPr/>
        </p:nvSpPr>
        <p:spPr>
          <a:xfrm>
            <a:off x="4992624" y="373075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del certificado, incertidumbre y firmas de validación, en fase posterior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4686300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9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R08.1 · Anexo C.9 — acta del 27/08/2026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FALTA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010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hay que cerrar para arrancar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6926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 bloques de trabajo. Cada uno sale con una decisión o con un responsable y una fecha.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609344"/>
            <a:ext cx="2596896" cy="841248"/>
          </a:xfrm>
          <a:prstGeom prst="roundRect">
            <a:avLst>
              <a:gd name="adj" fmla="val 6522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13232" y="1737360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D9962B"/>
          </a:solidFill>
          <a:ln w="12700">
            <a:solidFill>
              <a:srgbClr val="D996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713232" y="17373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72821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ordena la Fase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1579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P60 · P61 · P62 · P63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28416" y="1609344"/>
            <a:ext cx="2596896" cy="841248"/>
          </a:xfrm>
          <a:prstGeom prst="roundRect">
            <a:avLst>
              <a:gd name="adj" fmla="val 6522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474720" y="1737360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 txBox="1"/>
          <p:nvPr/>
        </p:nvSpPr>
        <p:spPr>
          <a:xfrm>
            <a:off x="3474720" y="17373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950208" y="172821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y orden de venta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1579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P21 · P52 · P53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9904" y="1609344"/>
            <a:ext cx="2596896" cy="841248"/>
          </a:xfrm>
          <a:prstGeom prst="roundRect">
            <a:avLst>
              <a:gd name="adj" fmla="val 6522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6236208" y="1737360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 txBox="1"/>
          <p:nvPr/>
        </p:nvSpPr>
        <p:spPr>
          <a:xfrm>
            <a:off x="6236208" y="17373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711696" y="172821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y las doce correcciones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236208" y="21579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P31 → P41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2578608"/>
            <a:ext cx="2596896" cy="841248"/>
          </a:xfrm>
          <a:prstGeom prst="roundRect">
            <a:avLst>
              <a:gd name="adj" fmla="val 6522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713232" y="2706624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 txBox="1"/>
          <p:nvPr/>
        </p:nvSpPr>
        <p:spPr>
          <a:xfrm>
            <a:off x="713232" y="27066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2697480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y checklist dinámico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31272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P45 · P56 · P59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28416" y="2578608"/>
            <a:ext cx="2596896" cy="841248"/>
          </a:xfrm>
          <a:prstGeom prst="roundRect">
            <a:avLst>
              <a:gd name="adj" fmla="val 6522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3474720" y="2706624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 txBox="1"/>
          <p:nvPr/>
        </p:nvSpPr>
        <p:spPr>
          <a:xfrm>
            <a:off x="3474720" y="27066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950208" y="2697480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Informes: ¿entran en la Fase 1?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474720" y="31272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89904" y="2578608"/>
            <a:ext cx="2596896" cy="841248"/>
          </a:xfrm>
          <a:prstGeom prst="roundRect">
            <a:avLst>
              <a:gd name="adj" fmla="val 6522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6236208" y="2706624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 txBox="1"/>
          <p:nvPr/>
        </p:nvSpPr>
        <p:spPr>
          <a:xfrm>
            <a:off x="6236208" y="27066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711696" y="2697480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vida, migración y repuestos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236208" y="31272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 · P47 · P48 · P54 · P55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3547872"/>
            <a:ext cx="2596896" cy="841248"/>
          </a:xfrm>
          <a:prstGeom prst="roundRect">
            <a:avLst>
              <a:gd name="adj" fmla="val 6522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713232" y="3675888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 txBox="1"/>
          <p:nvPr/>
        </p:nvSpPr>
        <p:spPr>
          <a:xfrm>
            <a:off x="713232" y="367588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88720" y="3666744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Permisos, trazas y KPIs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" y="4096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· P36 · P39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328416" y="3547872"/>
            <a:ext cx="2596896" cy="841248"/>
          </a:xfrm>
          <a:prstGeom prst="roundRect">
            <a:avLst>
              <a:gd name="adj" fmla="val 6522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Shape 39"/>
          <p:cNvSpPr/>
          <p:nvPr/>
        </p:nvSpPr>
        <p:spPr>
          <a:xfrm>
            <a:off x="3474720" y="3675888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 txBox="1"/>
          <p:nvPr/>
        </p:nvSpPr>
        <p:spPr>
          <a:xfrm>
            <a:off x="3474720" y="367588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3950208" y="3666744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queda dentro y qué sale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3474720" y="4096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P17 · P20 · P44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89904" y="3547872"/>
            <a:ext cx="2596896" cy="841248"/>
          </a:xfrm>
          <a:prstGeom prst="roundRect">
            <a:avLst>
              <a:gd name="adj" fmla="val 6522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Shape 44"/>
          <p:cNvSpPr/>
          <p:nvPr/>
        </p:nvSpPr>
        <p:spPr>
          <a:xfrm>
            <a:off x="6236208" y="3675888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 txBox="1"/>
          <p:nvPr/>
        </p:nvSpPr>
        <p:spPr>
          <a:xfrm>
            <a:off x="6236208" y="367588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711696" y="3666744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Frentes sin dueño y calendario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236208" y="4096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566928" y="4686300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9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del día detallado en documento aparte · los códigos P son los puntos abiertos del Anexo D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010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frentes sin responsable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6926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condicionan la puesta en producción, y quedan cuatro meses.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8010144" cy="694944"/>
          </a:xfrm>
          <a:prstGeom prst="roundRect">
            <a:avLst>
              <a:gd name="adj" fmla="val 7895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86384" y="1837944"/>
            <a:ext cx="182880" cy="182880"/>
          </a:xfrm>
          <a:prstGeom prst="ellipse">
            <a:avLst/>
          </a:prstGeom>
          <a:solidFill>
            <a:srgbClr val="D9962B"/>
          </a:solidFill>
          <a:ln w="12700">
            <a:solidFill>
              <a:srgbClr val="D996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1115568" y="16550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del histórico documental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92938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300 equipos con historial en carpetas, más las hojas de vida de Labcontrol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395728"/>
            <a:ext cx="8010144" cy="694944"/>
          </a:xfrm>
          <a:prstGeom prst="roundRect">
            <a:avLst>
              <a:gd name="adj" fmla="val 7895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786384" y="2660904"/>
            <a:ext cx="182880" cy="182880"/>
          </a:xfrm>
          <a:prstGeom prst="ellipse">
            <a:avLst/>
          </a:prstGeom>
          <a:solidFill>
            <a:srgbClr val="D9962B"/>
          </a:solidFill>
          <a:ln w="12700">
            <a:solidFill>
              <a:srgbClr val="D996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 txBox="1"/>
          <p:nvPr/>
        </p:nvSpPr>
        <p:spPr>
          <a:xfrm>
            <a:off x="1115568" y="24780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backup del sistema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75234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él, una caída del servidor se lleva el histórico por delante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218688"/>
            <a:ext cx="8010144" cy="694944"/>
          </a:xfrm>
          <a:prstGeom prst="roundRect">
            <a:avLst>
              <a:gd name="adj" fmla="val 7895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786384" y="3483864"/>
            <a:ext cx="182880" cy="182880"/>
          </a:xfrm>
          <a:prstGeom prst="ellipse">
            <a:avLst/>
          </a:prstGeom>
          <a:solidFill>
            <a:srgbClr val="D9962B"/>
          </a:solidFill>
          <a:ln w="12700">
            <a:solidFill>
              <a:srgbClr val="D996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 txBox="1"/>
          <p:nvPr/>
        </p:nvSpPr>
        <p:spPr>
          <a:xfrm>
            <a:off x="1115568" y="33009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del portal de cliente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357530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el portal expone el sistema y obliga a inversión en seguridad y auditoría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4005072"/>
            <a:ext cx="8010144" cy="475488"/>
          </a:xfrm>
          <a:prstGeom prst="roundRect">
            <a:avLst>
              <a:gd name="adj" fmla="val 11538"/>
            </a:avLst>
          </a:prstGeom>
          <a:solidFill>
            <a:srgbClr val="10241D"/>
          </a:solidFill>
          <a:ln w="12700">
            <a:solidFill>
              <a:srgbClr val="10241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 txBox="1"/>
          <p:nvPr/>
        </p:nvSpPr>
        <p:spPr>
          <a:xfrm>
            <a:off x="786384" y="4005072"/>
            <a:ext cx="7571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Salir de esta reunión con un nombre y una fecha para cada uno es el resultado mínimo aceptable.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4686300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9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R08.1 · Anexo H.5b — conclusiones del acta del 27/08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8010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NECESITAMOS DEL EQUIPO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010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entregables, todos pendientes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6926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Comprometidos el 27 de agosto. Sin ellos el prototipo no avanza.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9961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de inspección física del Grimm EDM 180, con macros, subniveles e ítems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766560" y="1554480"/>
            <a:ext cx="1810512" cy="329184"/>
          </a:xfrm>
          <a:prstGeom prst="roundRect">
            <a:avLst>
              <a:gd name="adj" fmla="val 13889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6766560" y="155448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 y Johny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002536"/>
            <a:ext cx="8010144" cy="0"/>
          </a:xfrm>
          <a:prstGeom prst="line">
            <a:avLst/>
          </a:prstGeom>
          <a:noFill/>
          <a:ln w="12700">
            <a:solidFill>
              <a:srgbClr val="E1E9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 txBox="1"/>
          <p:nvPr/>
        </p:nvSpPr>
        <p:spPr>
          <a:xfrm>
            <a:off x="566928" y="207568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diagnóstico en formato visual e ítems del checklist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766560" y="2130552"/>
            <a:ext cx="1810512" cy="329184"/>
          </a:xfrm>
          <a:prstGeom prst="roundRect">
            <a:avLst>
              <a:gd name="adj" fmla="val 13889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 txBox="1"/>
          <p:nvPr/>
        </p:nvSpPr>
        <p:spPr>
          <a:xfrm>
            <a:off x="6766560" y="213055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578608"/>
            <a:ext cx="8010144" cy="0"/>
          </a:xfrm>
          <a:prstGeom prst="line">
            <a:avLst/>
          </a:prstGeom>
          <a:noFill/>
          <a:ln w="12700">
            <a:solidFill>
              <a:srgbClr val="E1E9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 txBox="1"/>
          <p:nvPr/>
        </p:nvSpPr>
        <p:spPr>
          <a:xfrm>
            <a:off x="566928" y="26517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 del listado de códigos internos de cliente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66560" y="2706624"/>
            <a:ext cx="1810512" cy="329184"/>
          </a:xfrm>
          <a:prstGeom prst="roundRect">
            <a:avLst>
              <a:gd name="adj" fmla="val 13889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 txBox="1"/>
          <p:nvPr/>
        </p:nvSpPr>
        <p:spPr>
          <a:xfrm>
            <a:off x="6766560" y="2706624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154680"/>
            <a:ext cx="8010144" cy="0"/>
          </a:xfrm>
          <a:prstGeom prst="line">
            <a:avLst/>
          </a:prstGeom>
          <a:noFill/>
          <a:ln w="12700">
            <a:solidFill>
              <a:srgbClr val="E1E9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 txBox="1"/>
          <p:nvPr/>
        </p:nvSpPr>
        <p:spPr>
          <a:xfrm>
            <a:off x="566928" y="322783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construcción del informe de servicio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66560" y="3282696"/>
            <a:ext cx="1810512" cy="329184"/>
          </a:xfrm>
          <a:prstGeom prst="roundRect">
            <a:avLst>
              <a:gd name="adj" fmla="val 13889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 txBox="1"/>
          <p:nvPr/>
        </p:nvSpPr>
        <p:spPr>
          <a:xfrm>
            <a:off x="6766560" y="328269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Alfonso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730752"/>
            <a:ext cx="8010144" cy="0"/>
          </a:xfrm>
          <a:prstGeom prst="line">
            <a:avLst/>
          </a:prstGeom>
          <a:noFill/>
          <a:ln w="12700">
            <a:solidFill>
              <a:srgbClr val="E1E9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 txBox="1"/>
          <p:nvPr/>
        </p:nvSpPr>
        <p:spPr>
          <a:xfrm>
            <a:off x="566928" y="380390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de revisión física con checklist configurable en el demo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66560" y="3858768"/>
            <a:ext cx="1810512" cy="329184"/>
          </a:xfrm>
          <a:prstGeom prst="roundRect">
            <a:avLst>
              <a:gd name="adj" fmla="val 13889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 txBox="1"/>
          <p:nvPr/>
        </p:nvSpPr>
        <p:spPr>
          <a:xfrm>
            <a:off x="6766560" y="385876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Alfonso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4306824"/>
            <a:ext cx="8010144" cy="0"/>
          </a:xfrm>
          <a:prstGeom prst="line">
            <a:avLst/>
          </a:prstGeom>
          <a:noFill/>
          <a:ln w="12700">
            <a:solidFill>
              <a:srgbClr val="E1E9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 txBox="1"/>
          <p:nvPr/>
        </p:nvSpPr>
        <p:spPr>
          <a:xfrm>
            <a:off x="566928" y="4443984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F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prototipo se construye sobre el Grimm EDM 180 y se extrapola después al resto del portafolio. Lo que salga de aquí define la plantilla de todas las marcas.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2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914400"/>
            <a:ext cx="4206240" cy="4206240"/>
          </a:xfrm>
          <a:prstGeom prst="roundRect">
            <a:avLst>
              <a:gd name="adj" fmla="val 10870"/>
            </a:avLst>
          </a:prstGeom>
          <a:solidFill>
            <a:srgbClr val="17402F"/>
          </a:solidFill>
          <a:ln w="12700">
            <a:solidFill>
              <a:srgbClr val="1740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 txBox="1"/>
          <p:nvPr/>
        </p:nvSpPr>
        <p:spPr>
          <a:xfrm>
            <a:off x="566928" y="13716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· 12 · 2026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2128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7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operativa. Ratificado el 27 de agosto.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743200"/>
            <a:ext cx="2011680" cy="0"/>
          </a:xfrm>
          <a:prstGeom prst="line">
            <a:avLst/>
          </a:prstGeom>
          <a:noFill/>
          <a:ln w="25400">
            <a:solidFill>
              <a:srgbClr val="D996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 txBox="1"/>
          <p:nvPr/>
        </p:nvSpPr>
        <p:spPr>
          <a:xfrm>
            <a:off x="566928" y="29260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6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desarrollo está frenado hasta que el documento maestro esté consensuado. Esa es exactamente la razón de esta reunión: lo que decidamos aquí es lo que se construye.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2581</Words>
  <Application>Microsoft Office PowerPoint</Application>
  <PresentationFormat>Presentación en pantalla (16:9)</PresentationFormat>
  <Paragraphs>335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AmpliDesk — Desk 2.0</dc:title>
  <dc:subject>PptxGenJS Presentation</dc:subject>
  <dc:creator>Ambientalia</dc:creator>
  <cp:lastModifiedBy>Alfonso García del Pino Beneitez</cp:lastModifiedBy>
  <cp:revision>2</cp:revision>
  <dcterms:created xsi:type="dcterms:W3CDTF">2026-09-02T13:05:32Z</dcterms:created>
  <dcterms:modified xsi:type="dcterms:W3CDTF">2026-09-02T14:18:38Z</dcterms:modified>
</cp:coreProperties>
</file>